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914400"/>
            <a:ext cx="3749039" cy="3749039"/>
          </a:xfrm>
          <a:prstGeom prst="ellipse">
            <a:avLst/>
          </a:prstGeom>
          <a:noFill/>
          <a:ln w="15240"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25512" y="1124712"/>
            <a:ext cx="3328415" cy="3328415"/>
          </a:xfrm>
          <a:prstGeom prst="ellipse">
            <a:avLst/>
          </a:prstGeom>
          <a:noFill/>
          <a:ln w="15240">
            <a:solidFill>
              <a:srgbClr val="17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35824" y="1335024"/>
            <a:ext cx="2907791" cy="2907791"/>
          </a:xfrm>
          <a:prstGeom prst="ellipse">
            <a:avLst/>
          </a:prstGeom>
          <a:noFill/>
          <a:ln w="25400">
            <a:solidFill>
              <a:srgbClr val="41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8275320" y="1627632"/>
            <a:ext cx="1965960" cy="2011680"/>
          </a:xfrm>
          <a:prstGeom prst="heart">
            <a:avLst/>
          </a:prstGeom>
          <a:solidFill>
            <a:srgbClr val="82314E"/>
          </a:solidFill>
          <a:ln w="22860">
            <a:solidFill>
              <a:srgbClr val="FF5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9189720" y="1417320"/>
            <a:ext cx="365760" cy="594360"/>
          </a:xfrm>
          <a:prstGeom prst="line">
            <a:avLst/>
          </a:prstGeom>
          <a:ln w="3810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555480" y="1417320"/>
            <a:ext cx="685800" cy="228600"/>
          </a:xfrm>
          <a:prstGeom prst="line">
            <a:avLst/>
          </a:prstGeom>
          <a:ln w="3810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732520" y="2148840"/>
            <a:ext cx="457200" cy="411480"/>
          </a:xfrm>
          <a:prstGeom prst="line">
            <a:avLst/>
          </a:prstGeom>
          <a:ln w="33020">
            <a:solidFill>
              <a:srgbClr val="FFB1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2560320"/>
            <a:ext cx="137160" cy="548640"/>
          </a:xfrm>
          <a:prstGeom prst="line">
            <a:avLst/>
          </a:prstGeom>
          <a:ln w="33020">
            <a:solidFill>
              <a:srgbClr val="FFB1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18320" y="2423160"/>
            <a:ext cx="685800" cy="274320"/>
          </a:xfrm>
          <a:prstGeom prst="line">
            <a:avLst/>
          </a:prstGeom>
          <a:ln w="33020">
            <a:solidFill>
              <a:srgbClr val="FF5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012680" y="2697480"/>
            <a:ext cx="91440" cy="502920"/>
          </a:xfrm>
          <a:prstGeom prst="line">
            <a:avLst/>
          </a:prstGeom>
          <a:ln w="33020">
            <a:solidFill>
              <a:srgbClr val="FF5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40080"/>
            <a:ext cx="58521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D7E0"/>
                </a:solidFill>
                <a:latin typeface="Aptos"/>
              </a:rPr>
              <a:t>CARDIAC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417320"/>
            <a:ext cx="65836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1F6FF"/>
                </a:solidFill>
                <a:latin typeface="Aptos"/>
              </a:rPr>
              <a:t>Making cardiac risk
visible and explainable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73552"/>
            <a:ext cx="6309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4B4CD"/>
                </a:solidFill>
                <a:latin typeface="Aptos"/>
              </a:rPr>
              <a:t>IIT Mandi Multimodal AI Hackathon 2026  |  Track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069080"/>
            <a:ext cx="4251960" cy="530352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3931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D7E0"/>
                </a:solidFill>
                <a:latin typeface="Aptos"/>
              </a:rPr>
              <a:t>Clinical inputs  →  risk estimates  →  3D heart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6080760"/>
            <a:ext cx="5394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Project concept &amp; frontend prototype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01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The problem: risk is hard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The project turns structured clinical information into a visual, understandable exploration of coronary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20440" cy="150876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2304288"/>
            <a:ext cx="50292" cy="1106424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86000"/>
            <a:ext cx="2642615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Fragmented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79776"/>
            <a:ext cx="3081528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Clinical values and symptoms can be difficult to interpret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520440" cy="150876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304288"/>
            <a:ext cx="50292" cy="1106424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28600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15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2286000"/>
            <a:ext cx="264261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Hidden anatomy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779776"/>
            <a:ext cx="3081528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A table of predictions does not show where the coronary arteries sit.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520440" cy="150876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2304288"/>
            <a:ext cx="50292" cy="1106424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286000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88B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286000"/>
            <a:ext cx="264261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Low interpretability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779776"/>
            <a:ext cx="3081528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A risk score without context can be hard to trust or communicate.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10927080" cy="1280160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15968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D7E0"/>
                </a:solidFill>
                <a:latin typeface="Aptos"/>
              </a:rPr>
              <a:t>Design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251960"/>
            <a:ext cx="88239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1F6FF"/>
                </a:solidFill>
                <a:latin typeface="Aptos"/>
              </a:rPr>
              <a:t>Connect patient inputs, prediction outputs, feature explanations and an interactive 3D coronary model in one coherent workflow.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02 • CLINICAL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What the prototype predicts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The challenge focuses on coronary artery disease (CAD) and three major coronary artery territories.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260604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50292" cy="1426464"/>
          </a:xfrm>
          <a:prstGeom prst="rect">
            <a:avLst/>
          </a:prstGeom>
          <a:solidFill>
            <a:srgbClr val="FF5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26771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5D6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67712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CAD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61487"/>
            <a:ext cx="2167128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Overall coronary artery disease classification.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084831"/>
            <a:ext cx="260604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2286000"/>
            <a:ext cx="50292" cy="1426464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226771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267712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LAD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2761487"/>
            <a:ext cx="2167128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Left anterior descending artery.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084831"/>
            <a:ext cx="260604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286000"/>
            <a:ext cx="50292" cy="1426464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26771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15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267712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LCX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761487"/>
            <a:ext cx="2167128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Left circumflex artery.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084831"/>
            <a:ext cx="237744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2286000"/>
            <a:ext cx="50292" cy="1426464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226771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88B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267712"/>
            <a:ext cx="149961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RCA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761487"/>
            <a:ext cx="1938528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4B4CD"/>
                </a:solidFill>
                <a:latin typeface="Aptos"/>
              </a:rPr>
              <a:t>Right coronary artery.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434840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D7E0"/>
                </a:solidFill>
                <a:latin typeface="Aptos"/>
              </a:rPr>
              <a:t>Terminology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370832"/>
            <a:ext cx="90525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1F6FF"/>
                </a:solidFill>
                <a:latin typeface="Aptos"/>
              </a:rPr>
              <a:t>Stenosis = narrowing of an artery. The model’s output is a predicted class/probability—not a measured percentage of blockage.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57800"/>
            <a:ext cx="10835640" cy="594360"/>
          </a:xfrm>
          <a:prstGeom prst="roundRect">
            <a:avLst/>
          </a:prstGeom>
          <a:solidFill>
            <a:srgbClr val="2D1B2B"/>
          </a:solidFill>
          <a:ln>
            <a:solidFill>
              <a:srgbClr val="67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440680"/>
            <a:ext cx="10332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BEC6"/>
                </a:solidFill>
                <a:latin typeface="Aptos"/>
              </a:rPr>
              <a:t>Important: the exact target definition must match the dataset and challenge specification.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03 •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One simple end-to-end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The interface should make the workflow obvious to a first-time user and easy to demonstrate to judges.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423160"/>
            <a:ext cx="246888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633472"/>
            <a:ext cx="475488" cy="475488"/>
          </a:xfrm>
          <a:prstGeom prst="ellipse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61488"/>
            <a:ext cx="4754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9102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735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1F6FF"/>
                </a:solidFill>
                <a:latin typeface="Aptos"/>
              </a:rPr>
              <a:t>Enter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75887"/>
            <a:ext cx="2057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Patient demographics,
clinical values &amp; symptoms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37560"/>
            <a:ext cx="329184" cy="0"/>
          </a:xfrm>
          <a:prstGeom prst="line">
            <a:avLst/>
          </a:prstGeom>
          <a:ln w="2540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93591" y="2423160"/>
            <a:ext cx="246888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76472" y="2633472"/>
            <a:ext cx="475488" cy="475488"/>
          </a:xfrm>
          <a:prstGeom prst="ellipse">
            <a:avLst/>
          </a:prstGeom>
          <a:solidFill>
            <a:srgbClr val="54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2761488"/>
            <a:ext cx="4754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9102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2735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1F6FF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675887"/>
            <a:ext cx="2057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Required fields, ranges
and schema checks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337560"/>
            <a:ext cx="329184" cy="0"/>
          </a:xfrm>
          <a:prstGeom prst="line">
            <a:avLst/>
          </a:prstGeom>
          <a:ln w="2540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73952" y="2423160"/>
            <a:ext cx="246888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56832" y="2633472"/>
            <a:ext cx="475488" cy="475488"/>
          </a:xfrm>
          <a:prstGeom prst="ellipse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761488"/>
            <a:ext cx="4754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9102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2735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1F6FF"/>
                </a:solidFill>
                <a:latin typeface="Aptos"/>
              </a:rPr>
              <a:t>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675887"/>
            <a:ext cx="2057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CAD, LAD, LCX &amp; RCA
outputs with confidence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0" y="3337560"/>
            <a:ext cx="329184" cy="0"/>
          </a:xfrm>
          <a:prstGeom prst="line">
            <a:avLst/>
          </a:prstGeom>
          <a:ln w="2540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54311" y="2423160"/>
            <a:ext cx="2468880" cy="18288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37191" y="2633472"/>
            <a:ext cx="475488" cy="475488"/>
          </a:xfrm>
          <a:prstGeom prst="ellipse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191" y="2761488"/>
            <a:ext cx="4754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91020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1" y="327355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1F6FF"/>
                </a:solidFill>
                <a:latin typeface="Aptos"/>
              </a:rPr>
              <a:t>Explore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1" y="3675887"/>
            <a:ext cx="2057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3D coronary view,
explanations &amp;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D7E0"/>
                </a:solidFill>
                <a:latin typeface="Aptos"/>
              </a:rPr>
              <a:t>Key interaction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61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1F6FF"/>
                </a:solidFill>
                <a:latin typeface="Aptos"/>
              </a:rPr>
              <a:t>Selecting a vessel or a prediction card should keep the dashboard, explanation panel and 3D highlight in sync.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04 •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Frontend-first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Current build scope: a polished browser-only prototype. Model and API integration are planned, not claimed as implemented.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1691640" cy="14173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React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18688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Screens, routes,
form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423160"/>
            <a:ext cx="1691640" cy="14173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65176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Validation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218688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Schema checks,
input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423160"/>
            <a:ext cx="1691640" cy="14173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65176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Demo predictor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218688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Deterministic mock
outputs, labelled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423160"/>
            <a:ext cx="1691640" cy="14173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7" y="265176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3218688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Three.js / R3F,
Recharts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423160"/>
            <a:ext cx="1691640" cy="14173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9528" y="265176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Local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9528" y="3218688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Browser state;
no database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95728" y="3108960"/>
            <a:ext cx="512064" cy="0"/>
          </a:xfrm>
          <a:prstGeom prst="line">
            <a:avLst/>
          </a:prstGeom>
          <a:ln w="2286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81728" y="3108960"/>
            <a:ext cx="512064" cy="0"/>
          </a:xfrm>
          <a:prstGeom prst="line">
            <a:avLst/>
          </a:prstGeom>
          <a:ln w="2286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67728" y="3108960"/>
            <a:ext cx="512064" cy="0"/>
          </a:xfrm>
          <a:prstGeom prst="line">
            <a:avLst/>
          </a:prstGeom>
          <a:ln w="2286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53728" y="3108960"/>
            <a:ext cx="512064" cy="0"/>
          </a:xfrm>
          <a:prstGeom prst="line">
            <a:avLst/>
          </a:prstGeom>
          <a:ln w="2286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389120"/>
            <a:ext cx="10332720" cy="960120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590288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D7E0"/>
                </a:solidFill>
                <a:latin typeface="Aptos"/>
              </a:rPr>
              <a:t>Later integration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572000"/>
            <a:ext cx="7680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Trained scikit-learn pipeline → FastAPI endpoints → real predictions &amp; SHAP explanations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623560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Potential API contract: GET /health • GET /model-info • POST /predict • POST /explain • GET /metrics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05 • DATA &amp; MODELING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From tabular data to four prediction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The model workflow must be reproducible, leakage-aware and honest about the limits of a small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84831"/>
            <a:ext cx="3429000" cy="155448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286000"/>
            <a:ext cx="50292" cy="1152144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267712"/>
            <a:ext cx="302666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1. Inspect 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761487"/>
            <a:ext cx="2990088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Confirm the exact file, feature names, missing values, units and target definitions.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84831"/>
            <a:ext cx="3429000" cy="155448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2286000"/>
            <a:ext cx="50292" cy="1152144"/>
          </a:xfrm>
          <a:prstGeom prst="rect">
            <a:avLst/>
          </a:prstGeom>
          <a:solidFill>
            <a:srgbClr val="54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2666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2. Prepare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61487"/>
            <a:ext cx="2990088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Clean values, encode categories, scale where needed and split data correctly.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84831"/>
            <a:ext cx="3429000" cy="155448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2286000"/>
            <a:ext cx="50292" cy="1152144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267712"/>
            <a:ext cx="302666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3. Train &amp;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761487"/>
            <a:ext cx="2990088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Baseline binary classifiers for CAD, LAD, LCX and RCA; use cross-validation.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10789920" cy="1170432"/>
          </a:xfrm>
          <a:prstGeom prst="roundRect">
            <a:avLst/>
          </a:prstGeom>
          <a:solidFill>
            <a:srgbClr val="2D1B2B"/>
          </a:solidFill>
          <a:ln>
            <a:solidFill>
              <a:srgbClr val="673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EC6"/>
                </a:solidFill>
                <a:latin typeface="Aptos"/>
              </a:rPr>
              <a:t>Leakage guardrail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251960"/>
            <a:ext cx="84582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6FF"/>
                </a:solidFill>
                <a:latin typeface="Aptos"/>
              </a:rPr>
              <a:t>Never use a target label—or a direct proxy unavailable at prediction time—as an input for that target. Confirm whether Cath and related columns leak outcome information.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32120"/>
            <a:ext cx="1234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D7E0"/>
                </a:solidFill>
                <a:latin typeface="Aptos"/>
              </a:rPr>
              <a:t>Dataset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468112"/>
            <a:ext cx="90525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Z-Alizadeh Sani was discussed as a candidate dataset; verify the actual file and schema before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06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Measure more than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No performance values are presented here because no trained model results have been verified.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57800" cy="1115568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2350008"/>
            <a:ext cx="50292" cy="713232"/>
          </a:xfrm>
          <a:prstGeom prst="rect">
            <a:avLst/>
          </a:prstGeom>
          <a:solidFill>
            <a:srgbClr val="FF5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33172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Sensitivity /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825496"/>
            <a:ext cx="481888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How many positive cases are detected?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48840"/>
            <a:ext cx="5257800" cy="1115568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2350008"/>
            <a:ext cx="50292" cy="713232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233172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Specificity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825496"/>
            <a:ext cx="481888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How many negative cases are correctly rejected?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257800" cy="1115568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" y="3767328"/>
            <a:ext cx="50292" cy="713232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74904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Precision &amp;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42816"/>
            <a:ext cx="481888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How reliable are positive predictions?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566160"/>
            <a:ext cx="5257800" cy="1115568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2512" y="3767328"/>
            <a:ext cx="50292" cy="713232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74904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ROC-AUC + confusion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4242816"/>
            <a:ext cx="481888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Compare ranking quality and error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30368"/>
            <a:ext cx="10927080" cy="621792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422392"/>
            <a:ext cx="10332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D7E0"/>
                </a:solidFill>
                <a:latin typeface="Aptos"/>
              </a:rPr>
              <a:t>Reporting rule: show dataset split, class balance, validation method and per-target metrics; do not invent scores.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07 • 3D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Turn predictions into an explorable anatomy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A 3D model is the visual anchor—but its markings must not imply anatomical precision the data cannot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4754880" cy="361188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art 7"/>
          <p:cNvSpPr/>
          <p:nvPr/>
        </p:nvSpPr>
        <p:spPr>
          <a:xfrm>
            <a:off x="1965960" y="2487168"/>
            <a:ext cx="1828800" cy="2011680"/>
          </a:xfrm>
          <a:prstGeom prst="heart">
            <a:avLst/>
          </a:prstGeom>
          <a:solidFill>
            <a:srgbClr val="692B48"/>
          </a:solidFill>
          <a:ln w="20320">
            <a:solidFill>
              <a:srgbClr val="FF5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2880360" y="2331720"/>
            <a:ext cx="365760" cy="457200"/>
          </a:xfrm>
          <a:prstGeom prst="line">
            <a:avLst/>
          </a:prstGeom>
          <a:ln w="3810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6120" y="2331720"/>
            <a:ext cx="731519" cy="182880"/>
          </a:xfrm>
          <a:prstGeom prst="line">
            <a:avLst/>
          </a:prstGeom>
          <a:ln w="3810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286000" y="3063240"/>
            <a:ext cx="502920" cy="457200"/>
          </a:xfrm>
          <a:prstGeom prst="line">
            <a:avLst/>
          </a:prstGeom>
          <a:ln w="38100">
            <a:solidFill>
              <a:srgbClr val="FFB1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3520440"/>
            <a:ext cx="137160" cy="640080"/>
          </a:xfrm>
          <a:prstGeom prst="line">
            <a:avLst/>
          </a:prstGeom>
          <a:ln w="38100">
            <a:solidFill>
              <a:srgbClr val="FFB1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54680" y="3154680"/>
            <a:ext cx="685800" cy="274320"/>
          </a:xfrm>
          <a:prstGeom prst="line">
            <a:avLst/>
          </a:prstGeom>
          <a:ln w="38100">
            <a:solidFill>
              <a:srgbClr val="FF5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49039" y="3429000"/>
            <a:ext cx="91441" cy="640080"/>
          </a:xfrm>
          <a:prstGeom prst="line">
            <a:avLst/>
          </a:prstGeom>
          <a:ln w="38100">
            <a:solidFill>
              <a:srgbClr val="FF5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40" y="5166360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A4B4CD"/>
                </a:solidFill>
                <a:latin typeface="Aptos"/>
              </a:rPr>
              <a:t>Illustrative anatomy schematic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084831"/>
            <a:ext cx="5440680" cy="9144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33872" y="2286000"/>
            <a:ext cx="50292" cy="512064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5896" y="2267712"/>
            <a:ext cx="5038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Selectable artery territories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2761487"/>
            <a:ext cx="5001768" cy="731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LAD • LCX • RCA • overall CAD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200400"/>
            <a:ext cx="5440680" cy="9144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33872" y="3401568"/>
            <a:ext cx="50292" cy="512064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25896" y="3383280"/>
            <a:ext cx="5038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Linked interactions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3877056"/>
            <a:ext cx="5001768" cy="731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Hover/click to highlight a vessel and update its prediction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4315968"/>
            <a:ext cx="5440680" cy="91440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33872" y="4517136"/>
            <a:ext cx="50292" cy="512064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25896" y="4498848"/>
            <a:ext cx="5038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Probability legend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896" y="4992624"/>
            <a:ext cx="5001768" cy="731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Color bands are UI categories only unless clinically validated.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532120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BEC6"/>
                </a:solidFill>
                <a:latin typeface="Aptos"/>
              </a:rPr>
              <a:t>Do not invent lesion coordinates or exact plaque locations from tabular data alone.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08 • EXPLAINABLE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Make each output understandable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Pair every prediction with plain-language context and a transparent explanation panel.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84831"/>
            <a:ext cx="4892040" cy="329184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Feature contribution panel (illustrative)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8036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Feature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2880360"/>
            <a:ext cx="2423160" cy="164592"/>
          </a:xfrm>
          <a:prstGeom prst="round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48840" y="2880360"/>
            <a:ext cx="1986991" cy="164592"/>
          </a:xfrm>
          <a:prstGeom prst="round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8328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Feature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3383280"/>
            <a:ext cx="2423160" cy="164592"/>
          </a:xfrm>
          <a:prstGeom prst="round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48840" y="3383280"/>
            <a:ext cx="1526590" cy="164592"/>
          </a:xfrm>
          <a:prstGeom prst="roundRect">
            <a:avLst/>
          </a:prstGeom>
          <a:solidFill>
            <a:srgbClr val="54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88620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Feature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886200"/>
            <a:ext cx="2423160" cy="164592"/>
          </a:xfrm>
          <a:prstGeom prst="round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48840" y="3886200"/>
            <a:ext cx="1138885" cy="164592"/>
          </a:xfrm>
          <a:prstGeom prst="round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38912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Feature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4389120"/>
            <a:ext cx="2423160" cy="164592"/>
          </a:xfrm>
          <a:prstGeom prst="roundRect">
            <a:avLst/>
          </a:prstGeom>
          <a:solidFill>
            <a:srgbClr val="17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48840" y="4389120"/>
            <a:ext cx="678484" cy="164592"/>
          </a:xfrm>
          <a:prstGeom prst="round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89320" y="2148840"/>
            <a:ext cx="4983480" cy="100584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16752" y="2350008"/>
            <a:ext cx="50292" cy="603504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2331720"/>
            <a:ext cx="4581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What helps explainability?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825496"/>
            <a:ext cx="45445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Global feature importance, per-assessment contributions and clear units.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383280"/>
            <a:ext cx="4983480" cy="100584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16752" y="3584448"/>
            <a:ext cx="50292" cy="603504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3566160"/>
            <a:ext cx="4581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SHAP / LIME (planned)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4059936"/>
            <a:ext cx="45445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Use with a trained model; describe contribution, not causation.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617720"/>
            <a:ext cx="4983480" cy="100584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16752" y="4818888"/>
            <a:ext cx="50292" cy="603504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4800600"/>
            <a:ext cx="4581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Honest prototype 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5294376"/>
            <a:ext cx="45445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Demo explanations must be marked illustrative—not real model outputs.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09 • WEBSITE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A clear 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The frontend-only concept is organized around the assessment journey, interpretation and transparency.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2258568"/>
            <a:ext cx="50292" cy="859536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22037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34056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Project purpose, workflow and demo entry 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2057400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21023" y="2258568"/>
            <a:ext cx="50292" cy="859536"/>
          </a:xfrm>
          <a:prstGeom prst="rect">
            <a:avLst/>
          </a:prstGeom>
          <a:solidFill>
            <a:srgbClr val="54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240280"/>
            <a:ext cx="22037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New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734056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Validated patient input form and sample-data option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2057400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1384" y="2258568"/>
            <a:ext cx="50292" cy="859536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40280"/>
            <a:ext cx="22037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Prediction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734056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CAD/LAD/LCX/RCA results with caveats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54311" y="2057400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81743" y="2258568"/>
            <a:ext cx="50292" cy="859536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7" y="2240280"/>
            <a:ext cx="22037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3D Heart Explorer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7" y="2734056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Interactive model, vessel selection and legend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30168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" y="3831335"/>
            <a:ext cx="50292" cy="859536"/>
          </a:xfrm>
          <a:prstGeom prst="rect">
            <a:avLst/>
          </a:prstGeom>
          <a:solidFill>
            <a:srgbClr val="4FD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813048"/>
            <a:ext cx="22037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Explainable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06824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Feature contributions and plain-language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1" y="3630168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21023" y="3831335"/>
            <a:ext cx="50292" cy="859536"/>
          </a:xfrm>
          <a:prstGeom prst="rect">
            <a:avLst/>
          </a:prstGeom>
          <a:solidFill>
            <a:srgbClr val="FF5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3813048"/>
            <a:ext cx="22037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Model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8" y="4306824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Metrics, validation method and dataset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3630168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1384" y="3831335"/>
            <a:ext cx="50292" cy="859536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3813048"/>
            <a:ext cx="22037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Assessment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306824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Browser-local demo history; no server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54311" y="3630168"/>
            <a:ext cx="2606040" cy="1261872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81743" y="3831335"/>
            <a:ext cx="50292" cy="859536"/>
          </a:xfrm>
          <a:prstGeom prst="rect">
            <a:avLst/>
          </a:prstGeom>
          <a:solidFill>
            <a:srgbClr val="54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3767" y="3813048"/>
            <a:ext cx="22037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About &amp; 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7" y="4306824"/>
            <a:ext cx="2167128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Methods, limitations, version and disclaimer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5577840"/>
            <a:ext cx="10607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1D7E0"/>
                </a:solidFill>
                <a:latin typeface="Aptos"/>
              </a:rPr>
              <a:t>UX baseline: responsive layout • accessible contrast • keyboard support • loading/empty/error states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10 •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A practical 7-day build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Ship a reliable demo first, then replace simulation with a validated model when the data pipeline is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107692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Dataset audit &amp; UI skeleton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386584"/>
            <a:ext cx="0" cy="192024"/>
          </a:xfrm>
          <a:prstGeom prst="line">
            <a:avLst/>
          </a:prstGeom>
          <a:ln w="1778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587752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70048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38044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6FF"/>
                </a:solidFill>
                <a:latin typeface="Aptos"/>
              </a:rPr>
              <a:t>Baseline model plan / demo states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89888" y="2916936"/>
            <a:ext cx="0" cy="192024"/>
          </a:xfrm>
          <a:prstGeom prst="line">
            <a:avLst/>
          </a:prstGeom>
          <a:ln w="1778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3118104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00400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168396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6FF"/>
                </a:solidFill>
                <a:latin typeface="Aptos"/>
              </a:rPr>
              <a:t>Assessment form &amp; validation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89888" y="3447288"/>
            <a:ext cx="0" cy="192024"/>
          </a:xfrm>
          <a:prstGeom prst="line">
            <a:avLst/>
          </a:prstGeom>
          <a:ln w="1778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3648456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3075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698748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6FF"/>
                </a:solidFill>
                <a:latin typeface="Aptos"/>
              </a:rPr>
              <a:t>Dashboard &amp; charts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89888" y="3977639"/>
            <a:ext cx="0" cy="192024"/>
          </a:xfrm>
          <a:prstGeom prst="line">
            <a:avLst/>
          </a:prstGeom>
          <a:ln w="1778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" y="4178808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261104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229100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6FF"/>
                </a:solidFill>
                <a:latin typeface="Aptos"/>
              </a:rPr>
              <a:t>3D heart interactions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4507992"/>
            <a:ext cx="0" cy="192024"/>
          </a:xfrm>
          <a:prstGeom prst="line">
            <a:avLst/>
          </a:prstGeom>
          <a:ln w="1778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" y="4709160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791456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759452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6FF"/>
                </a:solidFill>
                <a:latin typeface="Aptos"/>
              </a:rPr>
              <a:t>Explanations, history &amp; integration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89888" y="5038344"/>
            <a:ext cx="0" cy="192024"/>
          </a:xfrm>
          <a:prstGeom prst="line">
            <a:avLst/>
          </a:prstGeom>
          <a:ln w="17780">
            <a:solidFill>
              <a:srgbClr val="2F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" y="5239512"/>
            <a:ext cx="1051560" cy="329184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321807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DAY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289803"/>
            <a:ext cx="6858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6FF"/>
                </a:solidFill>
                <a:latin typeface="Aptos"/>
              </a:rPr>
              <a:t>QA, documentation &amp; video demo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2240280"/>
            <a:ext cx="2331720" cy="329184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9408" y="2514600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6FF"/>
                </a:solidFill>
                <a:latin typeface="Aptos"/>
              </a:rPr>
              <a:t>Demo deliverables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3063240"/>
            <a:ext cx="1874519" cy="214884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A4B4CD"/>
                </a:solidFill>
                <a:latin typeface="Aptos"/>
              </a:defRPr>
            </a:pPr>
            <a:r>
              <a:t>•  Working prototype</a:t>
            </a:r>
          </a:p>
          <a:p>
            <a:pPr>
              <a:spcAft>
                <a:spcPts val="900"/>
              </a:spcAft>
              <a:defRPr sz="1200">
                <a:solidFill>
                  <a:srgbClr val="A4B4CD"/>
                </a:solidFill>
                <a:latin typeface="Aptos"/>
              </a:defRPr>
            </a:pPr>
            <a:r>
              <a:t>•  Model/pipeline files (when trained)</a:t>
            </a:r>
          </a:p>
          <a:p>
            <a:pPr>
              <a:spcAft>
                <a:spcPts val="900"/>
              </a:spcAft>
              <a:defRPr sz="1200">
                <a:solidFill>
                  <a:srgbClr val="A4B4CD"/>
                </a:solidFill>
                <a:latin typeface="Aptos"/>
              </a:defRPr>
            </a:pPr>
            <a:r>
              <a:t>•  Clinical explanation dashboard</a:t>
            </a:r>
          </a:p>
          <a:p>
            <a:pPr>
              <a:spcAft>
                <a:spcPts val="900"/>
              </a:spcAft>
              <a:defRPr sz="1200">
                <a:solidFill>
                  <a:srgbClr val="A4B4CD"/>
                </a:solidFill>
                <a:latin typeface="Aptos"/>
              </a:defRPr>
            </a:pPr>
            <a:r>
              <a:t>•  ≤ 6-page documentation</a:t>
            </a:r>
          </a:p>
          <a:p>
            <a:pPr>
              <a:spcAft>
                <a:spcPts val="900"/>
              </a:spcAft>
              <a:defRPr sz="1200">
                <a:solidFill>
                  <a:srgbClr val="A4B4CD"/>
                </a:solidFill>
                <a:latin typeface="Aptos"/>
              </a:defRPr>
            </a:pPr>
            <a:r>
              <a:t>•  3–10 min video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11 • TRUST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Clinical usefulness requires clear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This is a hackathon prototype concept—not a diagnostic device or substitute for a clinician.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3429000" cy="150876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2350008"/>
            <a:ext cx="50292" cy="1106424"/>
          </a:xfrm>
          <a:prstGeom prst="rect">
            <a:avLst/>
          </a:prstGeom>
          <a:solidFill>
            <a:srgbClr val="FF5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302666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No false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25496"/>
            <a:ext cx="2990088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A predicted probability is not a percentage of arterial blockage.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29000" cy="150876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8264" y="2350008"/>
            <a:ext cx="50292" cy="1106424"/>
          </a:xfrm>
          <a:prstGeom prst="rect">
            <a:avLst/>
          </a:prstGeom>
          <a:solidFill>
            <a:srgbClr val="FF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02666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No fabricated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25496"/>
            <a:ext cx="2990088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Only publish scores from reproducible evaluation 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148840"/>
            <a:ext cx="3429000" cy="150876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2350008"/>
            <a:ext cx="50292" cy="1106424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31720"/>
            <a:ext cx="302666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1F6FF"/>
                </a:solidFill>
                <a:latin typeface="Aptos"/>
              </a:rPr>
              <a:t>No invented anatomy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25496"/>
            <a:ext cx="2990088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Tabular inputs do not establish exact plaque 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10744200" cy="1005840"/>
          </a:xfrm>
          <a:prstGeom prst="roundRect">
            <a:avLst/>
          </a:prstGeom>
          <a:solidFill>
            <a:srgbClr val="162D30"/>
          </a:solidFill>
          <a:ln>
            <a:solidFill>
              <a:srgbClr val="2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89120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FD29D"/>
                </a:solidFill>
                <a:latin typeface="Aptos"/>
              </a:rPr>
              <a:t>Recommended on-screen disclaimer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315968"/>
            <a:ext cx="7543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“Educational decision-support prototype. Outputs are illustrative until validated and are not medical advice or a diagnosis.”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86400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Also disclose: data source • target definition • model version • validation method • known limitations.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1D7E0"/>
                </a:solidFill>
                <a:latin typeface="Aptos"/>
              </a:rPr>
              <a:t>12 • VIDEO DEMO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6FF"/>
                </a:solidFill>
                <a:latin typeface="Aptos"/>
              </a:rPr>
              <a:t>A judge-friendly 3–10 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4B4CD"/>
                </a:solidFill>
                <a:latin typeface="Aptos"/>
              </a:rPr>
              <a:t>Tell one consistent story: input → output → anatomy → explanation → limitations.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66928" cy="41148"/>
          </a:xfrm>
          <a:prstGeom prst="rect">
            <a:avLst/>
          </a:prstGeom>
          <a:solidFill>
            <a:srgbClr val="41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4B4CD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00:00–00:30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2996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Problem &amp;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29968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Explain why linked predictions and anatomy matter.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86584"/>
            <a:ext cx="10149840" cy="10972"/>
          </a:xfrm>
          <a:prstGeom prst="rect">
            <a:avLst/>
          </a:prstGeom>
          <a:solidFill>
            <a:srgbClr val="2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87752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00:30–01:30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587752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Enter a sample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87752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Show validation and explicitly label demo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944368"/>
            <a:ext cx="10149840" cy="10972"/>
          </a:xfrm>
          <a:prstGeom prst="rect">
            <a:avLst/>
          </a:prstGeom>
          <a:solidFill>
            <a:srgbClr val="2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145536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01:30–02:30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145536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Review prediction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45536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Explain CAD, LAD, LCX and RCA outputs.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502152"/>
            <a:ext cx="10149840" cy="10972"/>
          </a:xfrm>
          <a:prstGeom prst="rect">
            <a:avLst/>
          </a:prstGeom>
          <a:solidFill>
            <a:srgbClr val="2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703320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02:30–03:30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703320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Explore the 3D heart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03320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Select vessels and show synchronized highlights.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059936"/>
            <a:ext cx="10149840" cy="10972"/>
          </a:xfrm>
          <a:prstGeom prst="rect">
            <a:avLst/>
          </a:prstGeom>
          <a:solidFill>
            <a:srgbClr val="2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261104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03:30–04:30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261104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Explain the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61104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Show feature contribution UI and clarify demo status.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617720"/>
            <a:ext cx="10149840" cy="10972"/>
          </a:xfrm>
          <a:prstGeom prst="rect">
            <a:avLst/>
          </a:prstGeom>
          <a:solidFill>
            <a:srgbClr val="2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818888"/>
            <a:ext cx="1325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1D7E0"/>
                </a:solidFill>
                <a:latin typeface="Aptos"/>
              </a:rPr>
              <a:t>04:30–05:00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81888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6FF"/>
                </a:solidFill>
                <a:latin typeface="Aptos"/>
              </a:rPr>
              <a:t>Trust &amp;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18888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4B4CD"/>
                </a:solidFill>
                <a:latin typeface="Aptos"/>
              </a:rPr>
              <a:t>Discuss evaluation plan, limitations and model integration.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5715000"/>
            <a:ext cx="10195560" cy="411480"/>
          </a:xfrm>
          <a:prstGeom prst="roundRect">
            <a:avLst/>
          </a:prstGeom>
          <a:solidFill>
            <a:srgbClr val="172742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824728"/>
            <a:ext cx="9692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1D7E0"/>
                </a:solidFill>
                <a:latin typeface="Aptos"/>
              </a:rPr>
              <a:t>Show the working interactions, not just static screenshots.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73952"/>
            <a:ext cx="89611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4B4CD"/>
                </a:solidFill>
                <a:latin typeface="Aptos"/>
              </a:rPr>
              <a:t>Cardiac Health  •  Cardiovascular Risk Visualization &amp;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1D7E0"/>
                </a:solidFill>
                <a:latin typeface="Aptos"/>
              </a:rPr>
              <a:t>CARDIAC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740664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1F6FF"/>
                </a:solidFill>
                <a:latin typeface="Aptos"/>
              </a:rPr>
              <a:t>From clinical data
to a clearer cardiac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7040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4B4CD"/>
                </a:solidFill>
                <a:latin typeface="Aptos"/>
              </a:rPr>
              <a:t>A transparent, interactive prototype for exploring coronary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69080"/>
            <a:ext cx="2606040" cy="9601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27024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1D7E0"/>
                </a:solidFill>
                <a:latin typeface="Aptos"/>
              </a:rPr>
              <a:t>Visualize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599432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3D coronary territories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4069080"/>
            <a:ext cx="2606040" cy="9601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9352" y="427024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A88BFF"/>
                </a:solidFill>
                <a:latin typeface="Aptos"/>
              </a:rP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4599432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Feature-level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069080"/>
            <a:ext cx="2606040" cy="960120"/>
          </a:xfrm>
          <a:prstGeom prst="roundRect">
            <a:avLst/>
          </a:prstGeom>
          <a:solidFill>
            <a:srgbClr val="121D34"/>
          </a:solidFill>
          <a:ln>
            <a:solidFill>
              <a:srgbClr val="2F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427024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B154"/>
                </a:solidFill>
                <a:latin typeface="Aptos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4599432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4B4CD"/>
                </a:solidFill>
                <a:latin typeface="Aptos"/>
              </a:rPr>
              <a:t>Evidence before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F6FF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5" name="Heart 14"/>
          <p:cNvSpPr/>
          <p:nvPr/>
        </p:nvSpPr>
        <p:spPr>
          <a:xfrm>
            <a:off x="9372600" y="1828800"/>
            <a:ext cx="1325880" cy="1325880"/>
          </a:xfrm>
          <a:prstGeom prst="heart">
            <a:avLst/>
          </a:prstGeom>
          <a:solidFill>
            <a:srgbClr val="692B48"/>
          </a:solidFill>
          <a:ln w="19050">
            <a:solidFill>
              <a:srgbClr val="FF5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9966960" y="1874519"/>
            <a:ext cx="320040" cy="320041"/>
          </a:xfrm>
          <a:prstGeom prst="line">
            <a:avLst/>
          </a:prstGeom>
          <a:ln w="3175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1874519"/>
            <a:ext cx="548640" cy="182881"/>
          </a:xfrm>
          <a:prstGeom prst="line">
            <a:avLst/>
          </a:prstGeom>
          <a:ln w="31750">
            <a:solidFill>
              <a:srgbClr val="41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555480" y="2377440"/>
            <a:ext cx="365760" cy="320040"/>
          </a:xfrm>
          <a:prstGeom prst="line">
            <a:avLst/>
          </a:prstGeom>
          <a:ln w="31750">
            <a:solidFill>
              <a:srgbClr val="FFB1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55480" y="2697480"/>
            <a:ext cx="91440" cy="365760"/>
          </a:xfrm>
          <a:prstGeom prst="line">
            <a:avLst/>
          </a:prstGeom>
          <a:ln w="31750">
            <a:solidFill>
              <a:srgbClr val="FFB1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Cardiac Health — Cardiovascular Risk Visualization &amp; Prediction</dc:title>
  <dc:subject>IIT Mandi Multimodal AI Hackathon 2026, Track A</dc:subject>
  <dc:creator>OpenAI</dc:creator>
  <cp:keywords>Cardiac Health, cardiovascular risk, CAD, 3D visualization, explainable AI,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